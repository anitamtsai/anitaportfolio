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Crimson Tex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rimsonTex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rimsonTex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rimsonText-boldItalic.fntdata"/><Relationship Id="rId30" Type="http://schemas.openxmlformats.org/officeDocument/2006/relationships/font" Target="fonts/CrimsonTex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fada5c307_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fada5c307_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anita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87732ea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87732ea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911a12f4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911a12f4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87732ea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87732ea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28acd006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28acd00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587732e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587732e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628acd006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628acd006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587732e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587732e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587732ea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587732e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587732ea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587732ea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587732ea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587732ea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578f3b1e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578f3b1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587732e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587732e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733ea71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733ea71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87732ea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87732ea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87732ea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587732ea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587732ea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587732ea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5b2e8b33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5b2e8b33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5b2e8b33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5b2e8b33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5b2e8b33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5b2e8b33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5b2e8b33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5b2e8b33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794c8fbe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794c8fb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iz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946950" y="754875"/>
            <a:ext cx="725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Crimson Text"/>
              <a:buNone/>
              <a:defRPr b="0" sz="5200">
                <a:latin typeface="Crimson Text"/>
                <a:ea typeface="Crimson Text"/>
                <a:cs typeface="Crimson Text"/>
                <a:sym typeface="Crimson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946950" y="2910325"/>
            <a:ext cx="7250100" cy="15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B36"/>
              </a:buClr>
              <a:buSzPts val="2000"/>
              <a:buFont typeface="Muli"/>
              <a:buNone/>
              <a:defRPr sz="2000"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637381"/>
                </a:solidFill>
              </a:defRPr>
            </a:lvl1pPr>
            <a:lvl2pPr lvl="1">
              <a:buNone/>
              <a:defRPr>
                <a:solidFill>
                  <a:srgbClr val="637381"/>
                </a:solidFill>
              </a:defRPr>
            </a:lvl2pPr>
            <a:lvl3pPr lvl="2">
              <a:buNone/>
              <a:defRPr>
                <a:solidFill>
                  <a:srgbClr val="637381"/>
                </a:solidFill>
              </a:defRPr>
            </a:lvl3pPr>
            <a:lvl4pPr lvl="3">
              <a:buNone/>
              <a:defRPr>
                <a:solidFill>
                  <a:srgbClr val="637381"/>
                </a:solidFill>
              </a:defRPr>
            </a:lvl4pPr>
            <a:lvl5pPr lvl="4">
              <a:buNone/>
              <a:defRPr>
                <a:solidFill>
                  <a:srgbClr val="637381"/>
                </a:solidFill>
              </a:defRPr>
            </a:lvl5pPr>
            <a:lvl6pPr lvl="5">
              <a:buNone/>
              <a:defRPr>
                <a:solidFill>
                  <a:srgbClr val="637381"/>
                </a:solidFill>
              </a:defRPr>
            </a:lvl6pPr>
            <a:lvl7pPr lvl="6">
              <a:buNone/>
              <a:defRPr>
                <a:solidFill>
                  <a:srgbClr val="637381"/>
                </a:solidFill>
              </a:defRPr>
            </a:lvl7pPr>
            <a:lvl8pPr lvl="7">
              <a:buNone/>
              <a:defRPr>
                <a:solidFill>
                  <a:srgbClr val="637381"/>
                </a:solidFill>
              </a:defRPr>
            </a:lvl8pPr>
            <a:lvl9pPr lvl="8">
              <a:buNone/>
              <a:defRPr>
                <a:solidFill>
                  <a:srgbClr val="63738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718350" y="1134031"/>
            <a:ext cx="7250100" cy="17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rimson Text"/>
              <a:buNone/>
              <a:defRPr b="0" sz="5200"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18350" y="3010431"/>
            <a:ext cx="7250100" cy="15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000"/>
              <a:buFont typeface="Muli"/>
              <a:buNone/>
              <a:defRPr sz="2000">
                <a:solidFill>
                  <a:srgbClr val="E9F2F5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2F5"/>
              </a:buClr>
              <a:buSzPts val="2800"/>
              <a:buNone/>
              <a:defRPr sz="2800">
                <a:solidFill>
                  <a:srgbClr val="E9F2F5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637381"/>
                </a:solidFill>
              </a:defRPr>
            </a:lvl1pPr>
            <a:lvl2pPr lvl="1" rtl="0">
              <a:buNone/>
              <a:defRPr>
                <a:solidFill>
                  <a:srgbClr val="637381"/>
                </a:solidFill>
              </a:defRPr>
            </a:lvl2pPr>
            <a:lvl3pPr lvl="2" rtl="0">
              <a:buNone/>
              <a:defRPr>
                <a:solidFill>
                  <a:srgbClr val="637381"/>
                </a:solidFill>
              </a:defRPr>
            </a:lvl3pPr>
            <a:lvl4pPr lvl="3" rtl="0">
              <a:buNone/>
              <a:defRPr>
                <a:solidFill>
                  <a:srgbClr val="637381"/>
                </a:solidFill>
              </a:defRPr>
            </a:lvl4pPr>
            <a:lvl5pPr lvl="4" rtl="0">
              <a:buNone/>
              <a:defRPr>
                <a:solidFill>
                  <a:srgbClr val="637381"/>
                </a:solidFill>
              </a:defRPr>
            </a:lvl5pPr>
            <a:lvl6pPr lvl="5" rtl="0">
              <a:buNone/>
              <a:defRPr>
                <a:solidFill>
                  <a:srgbClr val="637381"/>
                </a:solidFill>
              </a:defRPr>
            </a:lvl6pPr>
            <a:lvl7pPr lvl="6" rtl="0">
              <a:buNone/>
              <a:defRPr>
                <a:solidFill>
                  <a:srgbClr val="637381"/>
                </a:solidFill>
              </a:defRPr>
            </a:lvl7pPr>
            <a:lvl8pPr lvl="7" rtl="0">
              <a:buNone/>
              <a:defRPr>
                <a:solidFill>
                  <a:srgbClr val="637381"/>
                </a:solidFill>
              </a:defRPr>
            </a:lvl8pPr>
            <a:lvl9pPr lvl="8" rtl="0">
              <a:buNone/>
              <a:defRPr>
                <a:solidFill>
                  <a:srgbClr val="63738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9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632250"/>
            <a:ext cx="8520600" cy="28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412310" y="1357975"/>
            <a:ext cx="1195800" cy="723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640600"/>
            <a:ext cx="3999900" cy="30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4832400" y="1640600"/>
            <a:ext cx="3999900" cy="30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>
            <a:off x="412310" y="1357975"/>
            <a:ext cx="1195800" cy="723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8"/>
          <p:cNvSpPr/>
          <p:nvPr/>
        </p:nvSpPr>
        <p:spPr>
          <a:xfrm>
            <a:off x="412310" y="1357975"/>
            <a:ext cx="1195800" cy="723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2113050"/>
            <a:ext cx="42957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700" y="619850"/>
            <a:ext cx="4295700" cy="1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9"/>
          <p:cNvSpPr/>
          <p:nvPr/>
        </p:nvSpPr>
        <p:spPr>
          <a:xfrm>
            <a:off x="412310" y="1815175"/>
            <a:ext cx="1195800" cy="72300"/>
          </a:xfrm>
          <a:prstGeom prst="rect">
            <a:avLst/>
          </a:prstGeom>
          <a:solidFill>
            <a:srgbClr val="FFD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E9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7381"/>
              </a:buClr>
              <a:buSzPts val="1400"/>
              <a:buNone/>
              <a:defRPr sz="1400">
                <a:solidFill>
                  <a:srgbClr val="637381"/>
                </a:solidFill>
              </a:defRPr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E9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2"/>
          <p:cNvSpPr txBox="1"/>
          <p:nvPr>
            <p:ph hasCustomPrompt="1" type="title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B36"/>
              </a:buClr>
              <a:buSzPts val="3200"/>
              <a:buFont typeface="Muli"/>
              <a:buNone/>
              <a:defRPr b="1" sz="3200"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B36"/>
              </a:buClr>
              <a:buSzPts val="1800"/>
              <a:buFont typeface="Muli"/>
              <a:buChar char="●"/>
              <a:defRPr sz="1800"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17500" lvl="1" marL="9144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○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17500" lvl="2" marL="13716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■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17500" lvl="3" marL="18288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●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17500" lvl="4" marL="22860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○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17500" lvl="5" marL="27432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■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17500" lvl="6" marL="32004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●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17500" lvl="7" marL="365760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212B36"/>
              </a:buClr>
              <a:buSzPts val="1400"/>
              <a:buFont typeface="Muli"/>
              <a:buChar char="○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17500" lvl="8" marL="411480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lr>
                <a:srgbClr val="212B36"/>
              </a:buClr>
              <a:buSzPts val="1400"/>
              <a:buFont typeface="Muli"/>
              <a:buChar char="■"/>
              <a:defRPr>
                <a:solidFill>
                  <a:srgbClr val="212B36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rgbClr val="637381"/>
                </a:solidFill>
              </a:defRPr>
            </a:lvl1pPr>
            <a:lvl2pPr lvl="1" algn="r">
              <a:buNone/>
              <a:defRPr sz="1000">
                <a:solidFill>
                  <a:srgbClr val="637381"/>
                </a:solidFill>
              </a:defRPr>
            </a:lvl2pPr>
            <a:lvl3pPr lvl="2" algn="r">
              <a:buNone/>
              <a:defRPr sz="1000">
                <a:solidFill>
                  <a:srgbClr val="637381"/>
                </a:solidFill>
              </a:defRPr>
            </a:lvl3pPr>
            <a:lvl4pPr lvl="3" algn="r">
              <a:buNone/>
              <a:defRPr sz="1000">
                <a:solidFill>
                  <a:srgbClr val="637381"/>
                </a:solidFill>
              </a:defRPr>
            </a:lvl4pPr>
            <a:lvl5pPr lvl="4" algn="r">
              <a:buNone/>
              <a:defRPr sz="1000">
                <a:solidFill>
                  <a:srgbClr val="637381"/>
                </a:solidFill>
              </a:defRPr>
            </a:lvl5pPr>
            <a:lvl6pPr lvl="5" algn="r">
              <a:buNone/>
              <a:defRPr sz="1000">
                <a:solidFill>
                  <a:srgbClr val="637381"/>
                </a:solidFill>
              </a:defRPr>
            </a:lvl6pPr>
            <a:lvl7pPr lvl="6" algn="r">
              <a:buNone/>
              <a:defRPr sz="1000">
                <a:solidFill>
                  <a:srgbClr val="637381"/>
                </a:solidFill>
              </a:defRPr>
            </a:lvl7pPr>
            <a:lvl8pPr lvl="7" algn="r">
              <a:buNone/>
              <a:defRPr sz="1000">
                <a:solidFill>
                  <a:srgbClr val="637381"/>
                </a:solidFill>
              </a:defRPr>
            </a:lvl8pPr>
            <a:lvl9pPr lvl="8" algn="r">
              <a:buNone/>
              <a:defRPr sz="1000">
                <a:solidFill>
                  <a:srgbClr val="63738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from.so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ho.int/news-room/fact-sheets/detail/disability-and-healt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72750" y="3007250"/>
            <a:ext cx="8398500" cy="18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Presenter</a:t>
            </a:r>
            <a:r>
              <a:rPr lang="en"/>
              <a:t>: </a:t>
            </a:r>
            <a:r>
              <a:rPr lang="en"/>
              <a:t>Anita Tsai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Website:</a:t>
            </a:r>
            <a:r>
              <a:rPr lang="en"/>
              <a:t> SPOT</a:t>
            </a:r>
            <a:r>
              <a:rPr lang="en">
                <a:solidFill>
                  <a:schemeClr val="lt1"/>
                </a:solidFill>
              </a:rPr>
              <a:t>: </a:t>
            </a:r>
            <a:r>
              <a:rPr lang="en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https://from.so/</a:t>
            </a:r>
            <a:r>
              <a:rPr lang="en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Research Website for University of Michigan (School of Information and Computer Science)</a:t>
            </a:r>
            <a:endParaRPr/>
          </a:p>
        </p:txBody>
      </p:sp>
      <p:sp>
        <p:nvSpPr>
          <p:cNvPr id="67" name="Google Shape;67;p14"/>
          <p:cNvSpPr txBox="1"/>
          <p:nvPr>
            <p:ph type="ctrTitle"/>
          </p:nvPr>
        </p:nvSpPr>
        <p:spPr>
          <a:xfrm>
            <a:off x="710200" y="487931"/>
            <a:ext cx="7250100" cy="17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946950" y="1545450"/>
            <a:ext cx="725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27975"/>
            <a:ext cx="8405700" cy="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Research</a:t>
            </a:r>
            <a:r>
              <a:rPr lang="en" sz="2900"/>
              <a:t> site for UMSl + UM CSE  </a:t>
            </a:r>
            <a:endParaRPr sz="2900"/>
          </a:p>
        </p:txBody>
      </p:sp>
      <p:pic>
        <p:nvPicPr>
          <p:cNvPr id="78" name="Google Shape;78;p16" title="Screenshot 2026-03-10 at 1.12.20 PM.png"/>
          <p:cNvPicPr preferRelativeResize="0"/>
          <p:nvPr/>
        </p:nvPicPr>
        <p:blipFill rotWithShape="1">
          <a:blip r:embed="rId3">
            <a:alphaModFix/>
          </a:blip>
          <a:srcRect b="-8489" l="367" r="367" t="16213"/>
          <a:stretch/>
        </p:blipFill>
        <p:spPr>
          <a:xfrm>
            <a:off x="3819024" y="1288500"/>
            <a:ext cx="4898376" cy="29569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244925" y="1526725"/>
            <a:ext cx="3527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Research focuses on factors that make programming tools usable and designing &amp; building new tools for programmers.</a:t>
            </a:r>
            <a:endParaRPr sz="2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946950" y="1608425"/>
            <a:ext cx="725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should care about accessibility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0"/>
              <a:t>1.3 Billion</a:t>
            </a:r>
            <a:endParaRPr sz="117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or 16% </a:t>
            </a:r>
            <a:r>
              <a:rPr lang="en"/>
              <a:t>of the world’s population, or 1 in 6 of US population experiences significant disability.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Source: World Health Organization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of SPOT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b="1" lang="en" sz="2200">
                <a:solidFill>
                  <a:schemeClr val="dk1"/>
                </a:solidFill>
              </a:rPr>
              <a:t>Students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b="1" lang="en" sz="2200">
                <a:solidFill>
                  <a:schemeClr val="dk1"/>
                </a:solidFill>
              </a:rPr>
              <a:t>Faculty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b="1" lang="en" sz="2200">
                <a:solidFill>
                  <a:schemeClr val="dk1"/>
                </a:solidFill>
              </a:rPr>
              <a:t>Researchers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b="1" lang="en" sz="2200">
                <a:solidFill>
                  <a:schemeClr val="dk1"/>
                </a:solidFill>
              </a:rPr>
              <a:t>Collaborators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b="1" lang="en" sz="2200">
                <a:solidFill>
                  <a:schemeClr val="dk1"/>
                </a:solidFill>
              </a:rPr>
              <a:t>industry partners</a:t>
            </a:r>
            <a:endParaRPr sz="2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65500" y="1379400"/>
            <a:ext cx="41697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Prospective Students</a:t>
            </a:r>
            <a:endParaRPr sz="56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744525" y="155200"/>
            <a:ext cx="4399500" cy="48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some students may not be able to navigate application information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they may miss opportunities because they cannot access key content (due to structure)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65500" y="1379400"/>
            <a:ext cx="41697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Students</a:t>
            </a:r>
            <a:endParaRPr sz="64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744525" y="155200"/>
            <a:ext cx="4399500" cy="48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with visual impairments may not be able to read publications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who rely on screen readers cannot interpret images or diagrams without “good” alt text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379400"/>
            <a:ext cx="41697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Faculty /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Researchers</a:t>
            </a:r>
            <a:endParaRPr sz="50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744525" y="155200"/>
            <a:ext cx="4399500" cy="48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Faculty and research collaborators: explore datasets/access papers: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information may be difficult to find or interpret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poor structure can make complex research content harder to navigate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Universities</a:t>
            </a:r>
            <a:r>
              <a:rPr lang="en"/>
              <a:t> should be all inclusive </a:t>
            </a:r>
            <a:r>
              <a:rPr lang="en"/>
              <a:t>environments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946950" y="1545450"/>
            <a:ext cx="725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731300" y="295325"/>
            <a:ext cx="4045200" cy="46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Tools used: 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WAVE (Chrome Extension)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aXe (Chrome Extension)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731300" y="295325"/>
            <a:ext cx="4045200" cy="46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61950" lvl="0" marL="457200" rtl="0" algn="l"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Pages Tested: </a:t>
            </a:r>
            <a:endParaRPr sz="17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Homepage</a:t>
            </a:r>
            <a:endParaRPr sz="17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Research page</a:t>
            </a:r>
            <a:endParaRPr sz="17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Team </a:t>
            </a:r>
            <a:endParaRPr sz="17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News</a:t>
            </a:r>
            <a:endParaRPr sz="17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Maryam Arab </a:t>
            </a:r>
            <a:endParaRPr sz="2100">
              <a:solidFill>
                <a:srgbClr val="073763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●"/>
            </a:pPr>
            <a:r>
              <a:rPr lang="en" sz="2100">
                <a:solidFill>
                  <a:srgbClr val="073763"/>
                </a:solidFill>
              </a:rPr>
              <a:t>Why? </a:t>
            </a:r>
            <a:endParaRPr sz="2100">
              <a:solidFill>
                <a:srgbClr val="073763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○"/>
            </a:pPr>
            <a:r>
              <a:rPr lang="en" sz="1700">
                <a:solidFill>
                  <a:srgbClr val="073763"/>
                </a:solidFill>
              </a:rPr>
              <a:t>They represented the most popular pages or pages with examples of complex content</a:t>
            </a:r>
            <a:endParaRPr sz="17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Audit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Reviewed all pages using </a:t>
            </a:r>
            <a:r>
              <a:rPr b="1" lang="en"/>
              <a:t>keyboard navigation</a:t>
            </a:r>
            <a:r>
              <a:rPr lang="en"/>
              <a:t> to ensure equal access to users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Reviewed all pages at </a:t>
            </a:r>
            <a:r>
              <a:rPr b="1" lang="en"/>
              <a:t>200% magnification</a:t>
            </a:r>
            <a:r>
              <a:rPr lang="en"/>
              <a:t> to identify issues for low vision users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Checked </a:t>
            </a:r>
            <a:r>
              <a:rPr b="1" lang="en"/>
              <a:t>color contrast for text on top of images</a:t>
            </a:r>
            <a:r>
              <a:rPr lang="en"/>
              <a:t> for users with color blindness &amp; low vision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Checked for actionable link text on pages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ctrTitle"/>
          </p:nvPr>
        </p:nvSpPr>
        <p:spPr>
          <a:xfrm>
            <a:off x="946950" y="1545450"/>
            <a:ext cx="725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Found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Test Result</a:t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129825" y="1603150"/>
            <a:ext cx="38388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uli"/>
                <a:ea typeface="Muli"/>
                <a:cs typeface="Muli"/>
                <a:sym typeface="Muli"/>
              </a:rPr>
              <a:t>Errors: </a:t>
            </a:r>
            <a:endParaRPr b="1" sz="16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5</a:t>
            </a:r>
            <a:r>
              <a:rPr lang="en" sz="1600">
                <a:latin typeface="Muli"/>
                <a:ea typeface="Muli"/>
                <a:cs typeface="Muli"/>
                <a:sym typeface="Muli"/>
              </a:rPr>
              <a:t> aXe errors:</a:t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uli"/>
              <a:buChar char="●"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Alt text shouldn’t be the same as text </a:t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uli"/>
              <a:buChar char="○"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Sol: change the caption/text or alt text depending on which is more substantive </a:t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uli"/>
              <a:buChar char="●"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Color blind people: can’t see when you hover over </a:t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Muli"/>
              <a:buChar char="○"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Sol:</a:t>
            </a:r>
            <a:r>
              <a:rPr lang="en" sz="1600">
                <a:latin typeface="Muli"/>
                <a:ea typeface="Muli"/>
                <a:cs typeface="Muli"/>
                <a:sym typeface="Muli"/>
              </a:rPr>
              <a:t> enlarge or add borderlines when hovered over</a:t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155" name="Google Shape;155;p29"/>
          <p:cNvPicPr preferRelativeResize="0"/>
          <p:nvPr/>
        </p:nvPicPr>
        <p:blipFill rotWithShape="1">
          <a:blip r:embed="rId3">
            <a:alphaModFix/>
          </a:blip>
          <a:srcRect b="0" l="0" r="0" t="8139"/>
          <a:stretch/>
        </p:blipFill>
        <p:spPr>
          <a:xfrm>
            <a:off x="4094950" y="1603150"/>
            <a:ext cx="4882925" cy="291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Test Result</a:t>
            </a:r>
            <a:endParaRPr/>
          </a:p>
        </p:txBody>
      </p:sp>
      <p:sp>
        <p:nvSpPr>
          <p:cNvPr id="161" name="Google Shape;161;p30"/>
          <p:cNvSpPr txBox="1"/>
          <p:nvPr/>
        </p:nvSpPr>
        <p:spPr>
          <a:xfrm>
            <a:off x="311700" y="1977925"/>
            <a:ext cx="2525400" cy="20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uli"/>
                <a:ea typeface="Muli"/>
                <a:cs typeface="Muli"/>
                <a:sym typeface="Muli"/>
              </a:rPr>
              <a:t>Errors: </a:t>
            </a:r>
            <a:endParaRPr b="1" sz="16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uli"/>
                <a:ea typeface="Muli"/>
                <a:cs typeface="Muli"/>
                <a:sym typeface="Muli"/>
              </a:rPr>
              <a:t>0 WAVE errors</a:t>
            </a:r>
            <a:endParaRPr sz="1600"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b="0" l="0" r="0" t="15662"/>
          <a:stretch/>
        </p:blipFill>
        <p:spPr>
          <a:xfrm>
            <a:off x="2995175" y="1582250"/>
            <a:ext cx="5684900" cy="30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61985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</a:t>
            </a:r>
            <a:r>
              <a:rPr b="0" lang="en"/>
              <a:t>Alt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129400" y="1593684"/>
            <a:ext cx="4649700" cy="29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Problem: </a:t>
            </a:r>
            <a:r>
              <a:rPr lang="en" sz="1400">
                <a:solidFill>
                  <a:schemeClr val="dk1"/>
                </a:solidFill>
              </a:rPr>
              <a:t>All the images have alt texts, but alternative text for an image is the same as nearby or adjacent text.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Why This Is a Problem: </a:t>
            </a:r>
            <a:r>
              <a:rPr lang="en" sz="1400">
                <a:solidFill>
                  <a:schemeClr val="dk1"/>
                </a:solidFill>
              </a:rPr>
              <a:t>Alternative text that is the same as nearby or adjacent text will be presented multiple times to screen readers or when images are unavailable.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Suggested Improvement: </a:t>
            </a:r>
            <a:r>
              <a:rPr lang="en" sz="1400">
                <a:solidFill>
                  <a:schemeClr val="dk1"/>
                </a:solidFill>
              </a:rPr>
              <a:t>Change either the alternative text or the adjacent text to eliminate the redundancy.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700" y="3032425"/>
            <a:ext cx="3622824" cy="54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840" y="1929975"/>
            <a:ext cx="3688535" cy="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273975"/>
            <a:ext cx="8520600" cy="10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Issue: </a:t>
            </a:r>
            <a:r>
              <a:rPr b="0" lang="en" sz="3000"/>
              <a:t>Publications Page Formatting (Large block of text + acronyms)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129400" y="1767750"/>
            <a:ext cx="4649700" cy="27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Problem: </a:t>
            </a:r>
            <a:r>
              <a:rPr lang="en" sz="1400">
                <a:solidFill>
                  <a:schemeClr val="dk1"/>
                </a:solidFill>
              </a:rPr>
              <a:t>The publications section appears as a long block of text instead of a list.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Why This Is a Problem: </a:t>
            </a:r>
            <a:r>
              <a:rPr lang="en" sz="1400">
                <a:solidFill>
                  <a:schemeClr val="dk1"/>
                </a:solidFill>
              </a:rPr>
              <a:t>A long block of text is harder to read, and might be difficult to access for users with dyslexia or ADHD.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Suggested Improvement: </a:t>
            </a:r>
            <a:r>
              <a:rPr lang="en" sz="1400">
                <a:solidFill>
                  <a:schemeClr val="dk1"/>
                </a:solidFill>
              </a:rPr>
              <a:t>Format publications using lists.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250" y="2107325"/>
            <a:ext cx="3396550" cy="226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571625"/>
            <a:ext cx="85206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Issue: </a:t>
            </a:r>
            <a:r>
              <a:rPr b="0" lang="en"/>
              <a:t>Mobile Layout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940950"/>
            <a:ext cx="4649700" cy="29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Problem: </a:t>
            </a:r>
            <a:r>
              <a:rPr lang="en" sz="1400">
                <a:solidFill>
                  <a:schemeClr val="dk1"/>
                </a:solidFill>
              </a:rPr>
              <a:t>On mobile devices, the page becomes difficult to read and navigate.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Why This Is a Problem: </a:t>
            </a:r>
            <a:r>
              <a:rPr lang="en" sz="1400">
                <a:solidFill>
                  <a:schemeClr val="dk1"/>
                </a:solidFill>
              </a:rPr>
              <a:t>The page is very text heavy, and when zoomed in, content only appears on the left side.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Suggested Improvement: </a:t>
            </a:r>
            <a:r>
              <a:rPr lang="en" sz="1400">
                <a:solidFill>
                  <a:schemeClr val="dk1"/>
                </a:solidFill>
              </a:rPr>
              <a:t>Adjust layout for mobile screens, so that content uses the full width of the screen.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300" y="620300"/>
            <a:ext cx="2678576" cy="4232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571625"/>
            <a:ext cx="85206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Issue: </a:t>
            </a:r>
            <a:r>
              <a:rPr b="0" lang="en"/>
              <a:t>Icon use on website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129400" y="1643300"/>
            <a:ext cx="4649700" cy="29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Problem: </a:t>
            </a:r>
            <a:r>
              <a:rPr lang="en" sz="1400">
                <a:solidFill>
                  <a:schemeClr val="dk1"/>
                </a:solidFill>
              </a:rPr>
              <a:t>Icons are used on the website.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Why This Is a Problem: </a:t>
            </a:r>
            <a:r>
              <a:rPr lang="en" sz="1400">
                <a:solidFill>
                  <a:schemeClr val="dk1"/>
                </a:solidFill>
              </a:rPr>
              <a:t>Icons can be problematic for accessibility, because their meaning may not be clear to all users and they may not be properly interpreted by assistive technologies such as screen readers.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Suggested Improvement: </a:t>
            </a:r>
            <a:r>
              <a:rPr lang="en" sz="1400">
                <a:solidFill>
                  <a:schemeClr val="dk1"/>
                </a:solidFill>
              </a:rPr>
              <a:t>Provide text labels or accessible descriptions so users can clearly understand the meaning and function of the icons.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325" y="1983625"/>
            <a:ext cx="3791976" cy="16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2826450" y="1782450"/>
            <a:ext cx="34911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1D74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